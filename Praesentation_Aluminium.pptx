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92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7772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9AA7B4"/>
                </a:solidFill>
                <a:latin typeface="Calibri"/>
              </a:rPr>
              <a:t>BSZ für Technik · Lernfeld 5 · Nutzfahrzeugbau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058400" cy="1463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Der Werkstoff Aluminium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058400" cy="1005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EF2F6"/>
                </a:solidFill>
                <a:latin typeface="Calibri"/>
              </a:rPr>
              <a:t>Vorkommen · Herstellung · Legierungen · Anwendung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EEF2F6"/>
                </a:solidFill>
                <a:latin typeface="Calibri"/>
              </a:rPr>
              <a:t>am Beispiel des Mercedes-Benz 2440 L</a:t>
            </a:r>
          </a:p>
        </p:txBody>
      </p:sp>
      <p:pic>
        <p:nvPicPr>
          <p:cNvPr id="8" name="Picture 7" descr="ti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526280"/>
            <a:ext cx="4588177" cy="2011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4754880"/>
            <a:ext cx="3840480" cy="1645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7B4"/>
                </a:solidFill>
                <a:latin typeface="Calibri"/>
              </a:rPr>
              <a:t>Handout / Präsentation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7B4"/>
                </a:solidFill>
                <a:latin typeface="Calibri"/>
              </a:rPr>
              <a:t>Lehrjahr 2 – Werkstoffkunde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7B4"/>
                </a:solidFill>
                <a:latin typeface="Calibri"/>
              </a:rPr>
              <a:t>12.06.2026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601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Gliederung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881360" cy="71323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28016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4206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D91"/>
                </a:solidFill>
                <a:latin typeface="Calibri"/>
              </a:rPr>
              <a:t>1   Vorkommen &amp; Abbaugebiete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17320"/>
            <a:ext cx="6400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– Wo findet man Aluminium auf der Erde?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58568"/>
            <a:ext cx="10881360" cy="71323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258568"/>
            <a:ext cx="128016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58568"/>
            <a:ext cx="4206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D91"/>
                </a:solidFill>
                <a:latin typeface="Calibri"/>
              </a:rPr>
              <a:t>2   Vor- und Nachteile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258568"/>
            <a:ext cx="6400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– Eigenschaften des Werkstoffs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99816"/>
            <a:ext cx="10881360" cy="71323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99816"/>
            <a:ext cx="128016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99816"/>
            <a:ext cx="4206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D91"/>
                </a:solidFill>
                <a:latin typeface="Calibri"/>
              </a:rPr>
              <a:t>3   Herstellung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99816"/>
            <a:ext cx="6400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– Vom Bauxit zum Reinaluminium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41064"/>
            <a:ext cx="10881360" cy="71323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41064"/>
            <a:ext cx="128016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41064"/>
            <a:ext cx="4206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D91"/>
                </a:solidFill>
                <a:latin typeface="Calibri"/>
              </a:rPr>
              <a:t>4   Legierungen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941064"/>
            <a:ext cx="6400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– aushärtbar/nicht aushärtbar · Knet- &amp; Gusslegierung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82312"/>
            <a:ext cx="10881360" cy="71323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82312"/>
            <a:ext cx="128016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782312"/>
            <a:ext cx="4206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D91"/>
                </a:solidFill>
                <a:latin typeface="Calibri"/>
              </a:rPr>
              <a:t>5   Festigkeitssteigerung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782312"/>
            <a:ext cx="6400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– drei wichtige Verfahren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623560"/>
            <a:ext cx="10881360" cy="713232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5623560"/>
            <a:ext cx="128016" cy="7132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623560"/>
            <a:ext cx="4206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0B3D91"/>
                </a:solidFill>
                <a:latin typeface="Calibri"/>
              </a:rPr>
              <a:t>6   Anwendung im Berufsalltag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623560"/>
            <a:ext cx="640080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C6B7A"/>
                </a:solidFill>
                <a:latin typeface="Calibri"/>
              </a:rPr>
              <a:t>– Beispiele im Nutzfahrzeugbau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1440"/>
            <a:ext cx="107743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Vorkommen &amp; Abbaugebiete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1F6FEB"/>
                </a:solidFill>
                <a:latin typeface="Calibri"/>
              </a:rPr>
              <a:t>▸  </a:t>
            </a:r>
            <a:r>
              <a:rPr sz="1650" b="1">
                <a:solidFill>
                  <a:srgbClr val="222A33"/>
                </a:solidFill>
                <a:latin typeface="Calibri"/>
              </a:rPr>
              <a:t>Häufigstes Metall: </a:t>
            </a:r>
            <a:r>
              <a:rPr sz="1650">
                <a:solidFill>
                  <a:srgbClr val="222A33"/>
                </a:solidFill>
                <a:latin typeface="Calibri"/>
              </a:rPr>
              <a:t>Aluminium macht ca. 8 % der Erdkruste aus – Platz 3 aller Elemente (nach O und Si).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1F6FEB"/>
                </a:solidFill>
                <a:latin typeface="Calibri"/>
              </a:rPr>
              <a:t>▸  </a:t>
            </a:r>
            <a:r>
              <a:rPr sz="1650" b="1">
                <a:solidFill>
                  <a:srgbClr val="222A33"/>
                </a:solidFill>
                <a:latin typeface="Calibri"/>
              </a:rPr>
              <a:t>Nie gediegen: </a:t>
            </a:r>
            <a:r>
              <a:rPr sz="1650">
                <a:solidFill>
                  <a:srgbClr val="222A33"/>
                </a:solidFill>
                <a:latin typeface="Calibri"/>
              </a:rPr>
              <a:t>kommt wegen seiner Reaktionsfreudigkeit nur gebunden in Mineralien vor.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1F6FEB"/>
                </a:solidFill>
                <a:latin typeface="Calibri"/>
              </a:rPr>
              <a:t>▸  </a:t>
            </a:r>
            <a:r>
              <a:rPr sz="1650" b="1">
                <a:solidFill>
                  <a:srgbClr val="222A33"/>
                </a:solidFill>
                <a:latin typeface="Calibri"/>
              </a:rPr>
              <a:t>Wichtigstes Erz – Bauxit: </a:t>
            </a:r>
            <a:r>
              <a:rPr sz="1650">
                <a:solidFill>
                  <a:srgbClr val="222A33"/>
                </a:solidFill>
                <a:latin typeface="Calibri"/>
              </a:rPr>
              <a:t>enthält 50–60 % Aluminiumoxid (Al₂O₃) sowie Eisen- und Siliciumoxide.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1F6FEB"/>
                </a:solidFill>
                <a:latin typeface="Calibri"/>
              </a:rPr>
              <a:t>▸  </a:t>
            </a:r>
            <a:r>
              <a:rPr sz="1650" b="1">
                <a:solidFill>
                  <a:srgbClr val="222A33"/>
                </a:solidFill>
                <a:latin typeface="Calibri"/>
              </a:rPr>
              <a:t>Abbau im Tagebau: </a:t>
            </a:r>
            <a:r>
              <a:rPr sz="1650">
                <a:solidFill>
                  <a:srgbClr val="222A33"/>
                </a:solidFill>
                <a:latin typeface="Calibri"/>
              </a:rPr>
              <a:t>Bauxit liegt oft oberflächennah in tropischen/subtropischen Gebieten.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50" b="1">
                <a:solidFill>
                  <a:srgbClr val="1F6FEB"/>
                </a:solidFill>
                <a:latin typeface="Calibri"/>
              </a:rPr>
              <a:t>▸  </a:t>
            </a:r>
            <a:r>
              <a:rPr sz="1650" b="1">
                <a:solidFill>
                  <a:srgbClr val="222A33"/>
                </a:solidFill>
                <a:latin typeface="Calibri"/>
              </a:rPr>
              <a:t>Lagerstätten weltweit: </a:t>
            </a:r>
            <a:r>
              <a:rPr sz="1650">
                <a:solidFill>
                  <a:srgbClr val="222A33"/>
                </a:solidFill>
                <a:latin typeface="Calibri"/>
              </a:rPr>
              <a:t>Australien, Guinea, China, Brasilien, Indien, Indonesien, Jamaika.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2780" y="1333500"/>
            <a:ext cx="4511040" cy="2546237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orkom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371600"/>
            <a:ext cx="4434840" cy="247003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02780" y="3939539"/>
            <a:ext cx="4511040" cy="237501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bba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977639"/>
            <a:ext cx="4434840" cy="22988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480" y="6473952"/>
            <a:ext cx="1136873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6707A"/>
                </a:solidFill>
                <a:latin typeface="Calibri"/>
              </a:rPr>
              <a:t>Quelle: Bundesanstalt für Geowissenschaften und Rohstoffe (BGR); Roloff/Matek Tabellenbuch Metall; Wikipedia 'Aluminium'/'Bauxit' (2024).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1440"/>
            <a:ext cx="107743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Vor- und Nachteile des Werkstoffs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✓  VORTEILE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39319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2E9E5B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Geringe Dichte </a:t>
            </a:r>
            <a:r>
              <a:rPr sz="1550">
                <a:solidFill>
                  <a:srgbClr val="222A33"/>
                </a:solidFill>
                <a:latin typeface="Calibri"/>
              </a:rPr>
              <a:t>(2,7 g/cm³) – nur ⅓ von Stahl → Leichtbau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2E9E5B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Hohe Korrosionsbeständigkeit </a:t>
            </a:r>
            <a:r>
              <a:rPr sz="1550">
                <a:solidFill>
                  <a:srgbClr val="222A33"/>
                </a:solidFill>
                <a:latin typeface="Calibri"/>
              </a:rPr>
              <a:t>durch dichte Oxidschicht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2E9E5B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Gut umformbar </a:t>
            </a:r>
            <a:r>
              <a:rPr sz="1550">
                <a:solidFill>
                  <a:srgbClr val="222A33"/>
                </a:solidFill>
                <a:latin typeface="Calibri"/>
              </a:rPr>
              <a:t>– walzen, pressen, tiefziehen, schweißen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2E9E5B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Sehr gute Leitfähigkeit </a:t>
            </a:r>
            <a:r>
              <a:rPr sz="1550">
                <a:solidFill>
                  <a:srgbClr val="222A33"/>
                </a:solidFill>
                <a:latin typeface="Calibri"/>
              </a:rPr>
              <a:t>für Wärme und Strom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2E9E5B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Unmagnetisch </a:t>
            </a:r>
            <a:r>
              <a:rPr sz="1550">
                <a:solidFill>
                  <a:srgbClr val="222A33"/>
                </a:solidFill>
                <a:latin typeface="Calibri"/>
              </a:rPr>
              <a:t>und lebensmittelecht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2E9E5B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Sehr gut recycelbar </a:t>
            </a:r>
            <a:r>
              <a:rPr sz="1550">
                <a:solidFill>
                  <a:srgbClr val="222A33"/>
                </a:solidFill>
                <a:latin typeface="Calibri"/>
              </a:rPr>
              <a:t>– nur ~5 % der Primärenergie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486400" cy="548640"/>
          </a:xfrm>
          <a:prstGeom prst="rect">
            <a:avLst/>
          </a:prstGeom>
          <a:solidFill>
            <a:srgbClr val="C032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486400" cy="5486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✗  NACHTEILE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486400" cy="39319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232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Geringere Festigkeit </a:t>
            </a:r>
            <a:r>
              <a:rPr sz="1550">
                <a:solidFill>
                  <a:srgbClr val="222A33"/>
                </a:solidFill>
                <a:latin typeface="Calibri"/>
              </a:rPr>
              <a:t>als Stahl (rein); E-Modul nur ⅓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232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Hoher Energiebedarf </a:t>
            </a:r>
            <a:r>
              <a:rPr sz="1550">
                <a:solidFill>
                  <a:srgbClr val="222A33"/>
                </a:solidFill>
                <a:latin typeface="Calibri"/>
              </a:rPr>
              <a:t>bei der Primärherstellung (Elektrolyse)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232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Teurer </a:t>
            </a:r>
            <a:r>
              <a:rPr sz="1550">
                <a:solidFill>
                  <a:srgbClr val="222A33"/>
                </a:solidFill>
                <a:latin typeface="Calibri"/>
              </a:rPr>
              <a:t>als Baustahl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232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Schwerer schweißbar </a:t>
            </a:r>
            <a:r>
              <a:rPr sz="1550">
                <a:solidFill>
                  <a:srgbClr val="222A33"/>
                </a:solidFill>
                <a:latin typeface="Calibri"/>
              </a:rPr>
              <a:t>– Oxidschicht, hohe Wärmeleitung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232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Geringe Warmfestigkeit </a:t>
            </a:r>
            <a:r>
              <a:rPr sz="1550">
                <a:solidFill>
                  <a:srgbClr val="222A33"/>
                </a:solidFill>
                <a:latin typeface="Calibri"/>
              </a:rPr>
              <a:t>– Festigkeitsverlust bei Hitze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50" b="1">
                <a:solidFill>
                  <a:srgbClr val="C03232"/>
                </a:solidFill>
                <a:latin typeface="Calibri"/>
              </a:rPr>
              <a:t>▸  </a:t>
            </a:r>
            <a:r>
              <a:rPr sz="1550" b="1">
                <a:solidFill>
                  <a:srgbClr val="222A33"/>
                </a:solidFill>
                <a:latin typeface="Calibri"/>
              </a:rPr>
              <a:t>Niedrige Dauerfestigkeit </a:t>
            </a:r>
            <a:r>
              <a:rPr sz="1550">
                <a:solidFill>
                  <a:srgbClr val="222A33"/>
                </a:solidFill>
                <a:latin typeface="Calibri"/>
              </a:rPr>
              <a:t>– keine echte Dauerfestigkeitsgrenze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6873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6707A"/>
                </a:solidFill>
                <a:latin typeface="Calibri"/>
              </a:rPr>
              <a:t>Quelle: Roloff/Matek Maschinenelemente; Europa-Lehrmittel 'Fachkunde Metall' (58. Aufl.).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1440"/>
            <a:ext cx="107743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Herstellung – vom Bauxit zum Aluminium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" y="1242060"/>
            <a:ext cx="7757160" cy="5231793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rstellu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680960" cy="515559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412480" y="1371600"/>
            <a:ext cx="3383280" cy="42976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463040"/>
            <a:ext cx="310896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3D91"/>
                </a:solidFill>
                <a:latin typeface="Calibri"/>
              </a:rPr>
              <a:t>Kurz erklärt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96596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▸  </a:t>
            </a:r>
            <a:r>
              <a:rPr sz="1350" b="1">
                <a:solidFill>
                  <a:srgbClr val="222A33"/>
                </a:solidFill>
                <a:latin typeface="Calibri"/>
              </a:rPr>
              <a:t>Schritt 1: </a:t>
            </a:r>
            <a:r>
              <a:rPr sz="1350">
                <a:solidFill>
                  <a:srgbClr val="222A33"/>
                </a:solidFill>
                <a:latin typeface="Calibri"/>
              </a:rPr>
              <a:t>Aus Bauxit wird im Bayer-Verfahren reine Tonerde (Al₂O₃) gewonnen.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▸  </a:t>
            </a:r>
            <a:r>
              <a:rPr sz="1350" b="1">
                <a:solidFill>
                  <a:srgbClr val="222A33"/>
                </a:solidFill>
                <a:latin typeface="Calibri"/>
              </a:rPr>
              <a:t>Schritt 2: </a:t>
            </a:r>
            <a:r>
              <a:rPr sz="1350">
                <a:solidFill>
                  <a:srgbClr val="222A33"/>
                </a:solidFill>
                <a:latin typeface="Calibri"/>
              </a:rPr>
              <a:t>Schmelzflusselektrolyse (Hall-Héroult): Al₂O₃ in Kryolith bei ~950 °C.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▸  </a:t>
            </a:r>
            <a:r>
              <a:rPr sz="1350" b="1">
                <a:solidFill>
                  <a:srgbClr val="222A33"/>
                </a:solidFill>
                <a:latin typeface="Calibri"/>
              </a:rPr>
              <a:t>Strom spaltet </a:t>
            </a:r>
            <a:r>
              <a:rPr sz="1350">
                <a:solidFill>
                  <a:srgbClr val="222A33"/>
                </a:solidFill>
                <a:latin typeface="Calibri"/>
              </a:rPr>
              <a:t>das Oxid – flüssiges Alu sammelt sich am Boden.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E08A1E"/>
                </a:solidFill>
                <a:latin typeface="Calibri"/>
              </a:rPr>
              <a:t>▸  </a:t>
            </a:r>
            <a:r>
              <a:rPr sz="1350" b="1">
                <a:solidFill>
                  <a:srgbClr val="222A33"/>
                </a:solidFill>
                <a:latin typeface="Calibri"/>
              </a:rPr>
              <a:t>Energie: </a:t>
            </a:r>
            <a:r>
              <a:rPr sz="1350">
                <a:solidFill>
                  <a:srgbClr val="222A33"/>
                </a:solidFill>
                <a:latin typeface="Calibri"/>
              </a:rPr>
              <a:t>~13–15 kWh je kg Rohaluminium.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6873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6707A"/>
                </a:solidFill>
                <a:latin typeface="Calibri"/>
              </a:rPr>
              <a:t>Quelle: Europa-Lehrmittel 'Fachkunde Metall'; aluminiumdeutschland.de; Wikipedia 'Aluminium­herstellung' (2024).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1440"/>
            <a:ext cx="107743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Aluminiumlegierungen – Übersicht</a:t>
            </a:r>
          </a:p>
        </p:txBody>
      </p:sp>
      <p:sp>
        <p:nvSpPr>
          <p:cNvPr id="6" name="Rectangle 5"/>
          <p:cNvSpPr/>
          <p:nvPr/>
        </p:nvSpPr>
        <p:spPr>
          <a:xfrm>
            <a:off x="464820" y="1242060"/>
            <a:ext cx="6934200" cy="3854075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egierun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6858000" cy="377787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80960" y="1371600"/>
            <a:ext cx="4114800" cy="438912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63040"/>
            <a:ext cx="3749039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91"/>
                </a:solidFill>
                <a:latin typeface="Calibri"/>
              </a:rPr>
              <a:t>aushärtbar vs. nicht aushärtbar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20116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F6FEB"/>
                </a:solidFill>
                <a:latin typeface="Calibri"/>
              </a:rPr>
              <a:t>▸  </a:t>
            </a:r>
            <a:r>
              <a:rPr sz="1400" b="1">
                <a:solidFill>
                  <a:srgbClr val="222A33"/>
                </a:solidFill>
                <a:latin typeface="Calibri"/>
              </a:rPr>
              <a:t>Aushärtbar: </a:t>
            </a:r>
            <a:r>
              <a:rPr sz="1400">
                <a:solidFill>
                  <a:srgbClr val="222A33"/>
                </a:solidFill>
                <a:latin typeface="Calibri"/>
              </a:rPr>
              <a:t>Festigkeit lässt sich durch eine Wärmebehandlung (Ausscheidungshärtung) deutlich steigern – z. B. AlCuMg, AlMgSi.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1F6FEB"/>
                </a:solidFill>
                <a:latin typeface="Calibri"/>
              </a:rPr>
              <a:t>▸  </a:t>
            </a:r>
            <a:r>
              <a:rPr sz="1400" b="1">
                <a:solidFill>
                  <a:srgbClr val="222A33"/>
                </a:solidFill>
                <a:latin typeface="Calibri"/>
              </a:rPr>
              <a:t>Nicht aushärtbar: </a:t>
            </a:r>
            <a:r>
              <a:rPr sz="1400">
                <a:solidFill>
                  <a:srgbClr val="222A33"/>
                </a:solidFill>
                <a:latin typeface="Calibri"/>
              </a:rPr>
              <a:t>keine Festigkeitssteigerung durch Wärmebehandlung möglich – nur durch Kaltverfestigung oder Legieren – z. B. AlMg, AlMn.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73952"/>
            <a:ext cx="1136873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6707A"/>
                </a:solidFill>
                <a:latin typeface="Calibri"/>
              </a:rPr>
              <a:t>Quelle: DIN EN 573 / EN 1706; Roloff/Matek Tabellenbuch; Europa-Lehrmittel 'Fachkunde Metall'.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1440"/>
            <a:ext cx="107743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Knetlegierung vs. Gusslegierung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0680" cy="5943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4068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KNETLEGIERUNG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5440680" cy="4023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Verarbeitung: </a:t>
            </a:r>
            <a:r>
              <a:rPr sz="1500">
                <a:solidFill>
                  <a:srgbClr val="222A33"/>
                </a:solidFill>
                <a:latin typeface="Calibri"/>
              </a:rPr>
              <a:t>durch Umformen – Walzen, Pressen, Schmieden, Ziehen.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Geringer Legierungsanteil </a:t>
            </a:r>
            <a:r>
              <a:rPr sz="1500">
                <a:solidFill>
                  <a:srgbClr val="222A33"/>
                </a:solidFill>
                <a:latin typeface="Calibri"/>
              </a:rPr>
              <a:t>→ gut verformbar, zäh.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Halbzeuge: </a:t>
            </a:r>
            <a:r>
              <a:rPr sz="1500">
                <a:solidFill>
                  <a:srgbClr val="222A33"/>
                </a:solidFill>
                <a:latin typeface="Calibri"/>
              </a:rPr>
              <a:t>Bleche, Profile, Rohre, Drähte.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Beispiele: </a:t>
            </a:r>
            <a:r>
              <a:rPr sz="1500">
                <a:solidFill>
                  <a:srgbClr val="222A33"/>
                </a:solidFill>
                <a:latin typeface="Calibri"/>
              </a:rPr>
              <a:t>AlMg3, AlMgSi0,5, AlCuMg (Dural).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F6FEB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Einsatz NFZ: </a:t>
            </a:r>
            <a:r>
              <a:rPr sz="1500">
                <a:solidFill>
                  <a:srgbClr val="222A33"/>
                </a:solidFill>
                <a:latin typeface="Calibri"/>
              </a:rPr>
              <a:t>Aufbauten, Bordwände, Kofferplanken.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371600"/>
            <a:ext cx="5440680" cy="594360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9632" y="1371600"/>
            <a:ext cx="5440680" cy="5943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GUSSLEGIERUNG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965960"/>
            <a:ext cx="5440680" cy="40233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210312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Verarbeitung: </a:t>
            </a:r>
            <a:r>
              <a:rPr sz="1500">
                <a:solidFill>
                  <a:srgbClr val="222A33"/>
                </a:solidFill>
                <a:latin typeface="Calibri"/>
              </a:rPr>
              <a:t>durch Vergießen – Sandguss, Kokillen-, Druckguss.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Hoher Legierungsanteil </a:t>
            </a:r>
            <a:r>
              <a:rPr sz="1500">
                <a:solidFill>
                  <a:srgbClr val="222A33"/>
                </a:solidFill>
                <a:latin typeface="Calibri"/>
              </a:rPr>
              <a:t>(v. a. Silicium) → gut gießbar, dünnflüssig.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Gute Formfüllung </a:t>
            </a:r>
            <a:r>
              <a:rPr sz="1500">
                <a:solidFill>
                  <a:srgbClr val="222A33"/>
                </a:solidFill>
                <a:latin typeface="Calibri"/>
              </a:rPr>
              <a:t>auch komplexer Bauteile.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Beispiele: </a:t>
            </a:r>
            <a:r>
              <a:rPr sz="1500">
                <a:solidFill>
                  <a:srgbClr val="222A33"/>
                </a:solidFill>
                <a:latin typeface="Calibri"/>
              </a:rPr>
              <a:t>AlSi12, AlSi10Mg, G-AlSi.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5C6B7A"/>
                </a:solidFill>
                <a:latin typeface="Calibri"/>
              </a:rPr>
              <a:t>▸  </a:t>
            </a:r>
            <a:r>
              <a:rPr sz="1500" b="1">
                <a:solidFill>
                  <a:srgbClr val="222A33"/>
                </a:solidFill>
                <a:latin typeface="Calibri"/>
              </a:rPr>
              <a:t>Einsatz NFZ: </a:t>
            </a:r>
            <a:r>
              <a:rPr sz="1500">
                <a:solidFill>
                  <a:srgbClr val="222A33"/>
                </a:solidFill>
                <a:latin typeface="Calibri"/>
              </a:rPr>
              <a:t>Getriebe-/Motorgehäuse, Halter, Konsolen.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73952"/>
            <a:ext cx="1136873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6707A"/>
                </a:solidFill>
                <a:latin typeface="Calibri"/>
              </a:rPr>
              <a:t>Quelle: DIN EN 1706 (Guss) / EN 573 (Knet); Europa-Lehrmittel 'Fachkunde Metall'.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1440"/>
            <a:ext cx="107743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Festigkeitssteigerung – 3 Möglichkeiten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01980" y="1242060"/>
            <a:ext cx="10957560" cy="5342558"/>
          </a:xfrm>
          <a:prstGeom prst="rect">
            <a:avLst/>
          </a:prstGeom>
          <a:solidFill>
            <a:srgbClr val="FFFFFF"/>
          </a:solidFill>
          <a:ln w="12700">
            <a:solidFill>
              <a:srgbClr val="9AA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estigke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881360" cy="52663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4160520"/>
            <a:ext cx="361188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  Mischkristallverfestigung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663440"/>
            <a:ext cx="3611880" cy="15544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754880"/>
            <a:ext cx="333756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3"/>
                </a:solidFill>
                <a:latin typeface="Calibri"/>
              </a:rPr>
              <a:t>Fremdatome (z. B. Mg, Mn) werden ins Gitter eingebaut. Sie verzerren das Kristallgitter und behindern das Abgleiten → höhere Festigkeit.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4160520"/>
            <a:ext cx="3611880" cy="50292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4528" y="416052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  Kaltverfestigung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24528" y="4663440"/>
            <a:ext cx="3611880" cy="15544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4754880"/>
            <a:ext cx="333756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3"/>
                </a:solidFill>
                <a:latin typeface="Calibri"/>
              </a:rPr>
              <a:t>Kaltumformen (Walzen, Ziehen) erhöht die Versetzungsdichte. Versetzungen stauen sich → Werkstoff wird fester, aber spröder.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0416" y="4160520"/>
            <a:ext cx="3611880" cy="50292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6" y="4160520"/>
            <a:ext cx="36118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  Ausscheidungshärtung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0416" y="4663440"/>
            <a:ext cx="3611880" cy="155448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37576" y="4754880"/>
            <a:ext cx="333756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3"/>
                </a:solidFill>
                <a:latin typeface="Calibri"/>
              </a:rPr>
              <a:t>Aushärten: Lösungsglühen → Abschrecken → Auslagern. Feine Ausscheidungen blockieren Versetzungen (nur bei aushärtbaren Legierungen).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1136873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6707A"/>
                </a:solidFill>
                <a:latin typeface="Calibri"/>
              </a:rPr>
              <a:t>Quelle: Bargel/Schulze 'Werkstoffkunde'; Europa-Lehrmittel 'Fachkunde Metall'; Roloff/Matek.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246888"/>
            <a:ext cx="566928" cy="566928"/>
          </a:xfrm>
          <a:prstGeom prst="ellipse">
            <a:avLst/>
          </a:prstGeom>
          <a:solidFill>
            <a:srgbClr val="E0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91440"/>
            <a:ext cx="107743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Anwendung im Berufsalltag (Nutzfahrzeug)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3611880" cy="4206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611880" cy="868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33375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Fahrerhaus &amp; Aufbau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20040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22A33"/>
                </a:solidFill>
                <a:latin typeface="Calibri"/>
              </a:rPr>
              <a:t>Bordwände, Kofferaufbauten und Planenrahmen aus Alu-Profilen senken das Leergewicht → höhere Nutzlast.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1" y="1417320"/>
            <a:ext cx="3611880" cy="4206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1" y="1417320"/>
            <a:ext cx="3611880" cy="868680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1" y="1417320"/>
            <a:ext cx="33375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Antrieb &amp; Fahrwerk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468880"/>
            <a:ext cx="320040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22A33"/>
                </a:solidFill>
                <a:latin typeface="Calibri"/>
              </a:rPr>
              <a:t>Motor- und Getriebegehäuse, Ölwannen, Querträger und Felgen als Aluminium-Gussteile.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3022" y="1417320"/>
            <a:ext cx="3611880" cy="420624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2" y="1417320"/>
            <a:ext cx="3611880" cy="868680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2" y="1417320"/>
            <a:ext cx="333756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Tanks &amp; Behälter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1622" y="2468880"/>
            <a:ext cx="3200400" cy="2926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22A33"/>
                </a:solidFill>
                <a:latin typeface="Calibri"/>
              </a:rPr>
              <a:t>Kraftstoff- und Druckluftbehälter, Trittstufen und Unterfahrschutz aus korrosionsbeständigem Aluminium.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806440"/>
            <a:ext cx="11109960" cy="566928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1109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Kernnutzen im NFZ-Bau:  weniger Gewicht  →  mehr Nutzlast, weniger Kraftstoff, weniger CO₂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473952"/>
            <a:ext cx="11368735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6707A"/>
                </a:solidFill>
                <a:latin typeface="Calibri"/>
              </a:rPr>
              <a:t>Quelle: Mercedes-Benz Trucks Technikinfo; aluminiumdeutschland.de; Europa-Lehrmittel 'Fachkunde Kfz-Technik'.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601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Zusammenfassung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71600"/>
            <a:ext cx="103327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222A33"/>
                </a:solidFill>
                <a:latin typeface="Calibri"/>
              </a:rPr>
              <a:t>Aluminium ist das häufigste Metall der Erdkruste, wird aber nur gebunden als Bauxit abgebaut.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24028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94560"/>
            <a:ext cx="103327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222A33"/>
                </a:solidFill>
                <a:latin typeface="Calibri"/>
              </a:rPr>
              <a:t>Größter Vorteil: geringe Dichte (2,7 g/cm³) und Korrosionsbeständigkeit → idealer Leichtbauwerkstoff.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06324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017520"/>
            <a:ext cx="103327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222A33"/>
                </a:solidFill>
                <a:latin typeface="Calibri"/>
              </a:rPr>
              <a:t>Herstellung in zwei Stufen: Bayer-Verfahren (Tonerde) + Schmelzflusselektrolyse – sehr energieintensiv, aber gut recycelbar.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840480"/>
            <a:ext cx="103327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222A33"/>
                </a:solidFill>
                <a:latin typeface="Calibri"/>
              </a:rPr>
              <a:t>Knetlegierungen werden umgeformt, Gusslegierungen vergossen; nur aushärtbare Legierungen lassen sich wärmebehandeln.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70916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663440"/>
            <a:ext cx="103327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222A33"/>
                </a:solidFill>
                <a:latin typeface="Calibri"/>
              </a:rPr>
              <a:t>Festigkeit steigerbar durch Mischkristallverfestigung, Kaltverfestigung und Ausscheidungshärtung.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50292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486400"/>
            <a:ext cx="10332720" cy="7772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>
                <a:solidFill>
                  <a:srgbClr val="222A33"/>
                </a:solidFill>
                <a:latin typeface="Calibri"/>
              </a:rPr>
              <a:t>Im Nutzfahrzeugbau spart Aluminium Gewicht und erhöht so die Nutzlast – am Mercedes-Benz 2440 L vielfach eingesetzt.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35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460175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Quellenangaben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91"/>
                </a:solidFill>
                <a:latin typeface="Calibri"/>
              </a:rPr>
              <a:t>Fachbücher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38528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Europa-Lehrmittel: Fachkunde Metall, 58. Auflage, Verlag Europa-Lehrmittel, Haan-Gruiten.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40280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Roloff/Matek: Maschinenelemente – Tabellenbuch, Springer Vieweg.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42032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Bargel/Schulze: Werkstoffkunde, Springer Verlag.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16936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91"/>
                </a:solidFill>
                <a:latin typeface="Calibri"/>
              </a:rPr>
              <a:t>Normen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00984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DIN EN 573 – Aluminium und Aluminiumlegierungen (Knetwerkstoffe).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02736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DIN EN 1706 – Aluminium und Aluminiumlegierungen (Gussstücke).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40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91"/>
                </a:solidFill>
                <a:latin typeface="Calibri"/>
              </a:rPr>
              <a:t>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61688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aluminiumdeutschland.de – Aluminium Deutschland e. V. (abgerufen 06/2026).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63440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bgr.bund.de – Bundesanstalt für Geowissenschaften und Rohstoffe (Rohstoffdaten).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965192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de.wikipedia.org – Artikel 'Aluminium', 'Bauxit', 'Aluminiumherstellung' (abgerufen 06/2026).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66944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Mercedes-Benz Trucks – technische Produktinformationen.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3327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B3D91"/>
                </a:solidFill>
                <a:latin typeface="Calibri"/>
              </a:rPr>
              <a:t>Aufgabenstellung / Bild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6025896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Aufgabenblatt 'Aluminium' (LF 5) sowie Fahrzeugabbildung Mercedes-Benz 2440 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6327648"/>
            <a:ext cx="10058400" cy="32918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22A33"/>
                </a:solidFill>
                <a:latin typeface="Calibri"/>
              </a:rPr>
              <a:t>•  Grafiken/Diagramme: Eigene Darstellungen (schematisch).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60175" y="6473952"/>
            <a:ext cx="457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670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