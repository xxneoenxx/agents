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Erdkruste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D2D9"/>
              </a:solidFill>
              <a:effectLst/>
            </c:spPr>
          </c:dPt>
          <c:dPt>
            <c:idx val="1"/>
            <c:bubble3D val="0"/>
            <c:spPr>
              <a:solidFill>
                <a:srgbClr val="AEB9C0"/>
              </a:solidFill>
              <a:effectLst/>
            </c:spPr>
          </c:dPt>
          <c:dPt>
            <c:idx val="2"/>
            <c:bubble3D val="0"/>
            <c:spPr>
              <a:solidFill>
                <a:srgbClr val="E8923A"/>
              </a:solidFill>
              <a:effectLst/>
            </c:spPr>
          </c:dPt>
          <c:dPt>
            <c:idx val="3"/>
            <c:bubble3D val="0"/>
            <c:spPr>
              <a:solidFill>
                <a:srgbClr val="37474F"/>
              </a:solidFill>
              <a:effectLst/>
            </c:spPr>
          </c:dPt>
          <c:dPt>
            <c:idx val="4"/>
            <c:bubble3D val="0"/>
            <c:spPr>
              <a:solidFill>
                <a:srgbClr val="8FA1AB"/>
              </a:solidFill>
              <a:effectLst/>
            </c:spPr>
          </c:dPt>
          <c:dPt>
            <c:idx val="5"/>
            <c:bubble3D val="0"/>
            <c:spPr>
              <a:solidFill>
                <a:srgbClr val="E1E7E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Sauerstoff</c:v>
                </c:pt>
                <c:pt idx="1">
                  <c:v>Silicium</c:v>
                </c:pt>
                <c:pt idx="2">
                  <c:v>Aluminium</c:v>
                </c:pt>
                <c:pt idx="3">
                  <c:v>Eisen</c:v>
                </c:pt>
                <c:pt idx="4">
                  <c:v>Calcium</c:v>
                </c:pt>
                <c:pt idx="5">
                  <c:v>Übrige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46</c:v>
                </c:pt>
                <c:pt idx="1">
                  <c:v>28</c:v>
                </c:pt>
                <c:pt idx="2">
                  <c:v>8</c:v>
                </c:pt>
                <c:pt idx="3">
                  <c:v>5</c:v>
                </c:pt>
                <c:pt idx="4">
                  <c:v>4</c:v>
                </c:pt>
                <c:pt idx="5">
                  <c:v>9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30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Mio. t</c:v>
                </c:pt>
              </c:strCache>
            </c:strRef>
          </c:tx>
          <c:spPr>
            <a:solidFill>
              <a:srgbClr val="2E7D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230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China</c:v>
                  </c:pt>
                  <c:pt idx="1">
                    <c:v>Indien</c:v>
                  </c:pt>
                  <c:pt idx="2">
                    <c:v>Russland</c:v>
                  </c:pt>
                  <c:pt idx="3">
                    <c:v>Kanada</c:v>
                  </c:pt>
                  <c:pt idx="4">
                    <c:v>VAE</c:v>
                  </c:pt>
                  <c:pt idx="5">
                    <c:v>Bahrain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</c:v>
                </c:pt>
                <c:pt idx="1">
                  <c:v>4.2</c:v>
                </c:pt>
                <c:pt idx="2">
                  <c:v>3.8</c:v>
                </c:pt>
                <c:pt idx="3">
                  <c:v>3.3</c:v>
                </c:pt>
                <c:pt idx="4">
                  <c:v>2.7</c:v>
                </c:pt>
                <c:pt idx="5">
                  <c:v>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230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230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2C3E49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2C3E4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REFERAT  ·  CHEMIE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Aluminium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9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Leichtmetall, das unsere moderne Welt prägt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FB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Ordnungszahl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044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FB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2,70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520440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g/cm³ Dichte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FB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660 °C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217920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Schmelzpunkt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1540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FB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915400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häufigstes Element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32520" y="1234440"/>
            <a:ext cx="2606040" cy="2606040"/>
          </a:xfrm>
          <a:prstGeom prst="roundRect">
            <a:avLst>
              <a:gd name="adj" fmla="val 4211"/>
            </a:avLst>
          </a:prstGeom>
          <a:solidFill>
            <a:srgbClr val="E8923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1540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732520" y="178308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</a:t>
            </a:r>
            <a:endParaRPr lang="en-US" sz="8000" dirty="0"/>
          </a:p>
        </p:txBody>
      </p:sp>
      <p:sp>
        <p:nvSpPr>
          <p:cNvPr id="18" name="Text 16"/>
          <p:cNvSpPr/>
          <p:nvPr/>
        </p:nvSpPr>
        <p:spPr>
          <a:xfrm>
            <a:off x="8732520" y="3246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26,98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 ___    ·    Name: ______________    ·    Datum: 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Gliederung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6479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D2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9476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1801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Aluminium?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148840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Steckbrief &amp; Element-Daten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53912" y="1600200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36792" y="176479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D2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472" y="194767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54112" y="1801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Eigenschaften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754112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Physikalisch &amp; chemisch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2798064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31520" y="2962656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D2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14553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48840" y="29992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Vorkommen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148840" y="3364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Natur &amp; im Gestein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53912" y="2798064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336792" y="2962656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D2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314553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54112" y="29992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Geschichte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754112" y="3364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Entdeckung bis heute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3995928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31520" y="41605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D2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434340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148840" y="419709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Herstellung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2148840" y="4562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Bayer-Verfahren &amp; Elektrolyse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153912" y="3995928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6336792" y="41605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D2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472" y="4343400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754112" y="419709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Weltproduktion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754112" y="4562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produziert wie viel?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548640" y="5193792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5" name="Text 27"/>
          <p:cNvSpPr/>
          <p:nvPr/>
        </p:nvSpPr>
        <p:spPr>
          <a:xfrm>
            <a:off x="731520" y="5358384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D2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4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00" y="5541264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148840" y="5394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Verwendung</a:t>
            </a:r>
            <a:endParaRPr lang="en-US" sz="1600" dirty="0"/>
          </a:p>
        </p:txBody>
      </p:sp>
      <p:sp>
        <p:nvSpPr>
          <p:cNvPr id="38" name="Text 29"/>
          <p:cNvSpPr/>
          <p:nvPr/>
        </p:nvSpPr>
        <p:spPr>
          <a:xfrm>
            <a:off x="2148840" y="5760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wir Aluminium nutzen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6153912" y="5193792"/>
            <a:ext cx="5486400" cy="1078992"/>
          </a:xfrm>
          <a:prstGeom prst="roundRect">
            <a:avLst>
              <a:gd name="adj" fmla="val 6780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Text 31"/>
          <p:cNvSpPr/>
          <p:nvPr/>
        </p:nvSpPr>
        <p:spPr>
          <a:xfrm>
            <a:off x="6336792" y="5358384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D2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40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5472" y="5541264"/>
            <a:ext cx="384048" cy="38404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754112" y="5394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&amp; Umwelt</a:t>
            </a:r>
            <a:endParaRPr lang="en-US" sz="1600" dirty="0"/>
          </a:p>
        </p:txBody>
      </p:sp>
      <p:sp>
        <p:nvSpPr>
          <p:cNvPr id="43" name="Text 33"/>
          <p:cNvSpPr/>
          <p:nvPr/>
        </p:nvSpPr>
        <p:spPr>
          <a:xfrm>
            <a:off x="7754112" y="5760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Nachhaltigkeit &amp; Bilanz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</a:t>
            </a:r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Referat Chemie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430000" y="64008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Steckbrief: Was ist Aluminium?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114800" cy="4480560"/>
          </a:xfrm>
          <a:prstGeom prst="roundRect">
            <a:avLst>
              <a:gd name="adj" fmla="val 1778"/>
            </a:avLst>
          </a:prstGeom>
          <a:solidFill>
            <a:srgbClr val="22303A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920240"/>
            <a:ext cx="2286000" cy="2286000"/>
          </a:xfrm>
          <a:prstGeom prst="roundRect">
            <a:avLst>
              <a:gd name="adj" fmla="val 4800"/>
            </a:avLst>
          </a:prstGeom>
          <a:solidFill>
            <a:srgbClr val="E8923A"/>
          </a:solidFill>
          <a:ln/>
        </p:spPr>
      </p:sp>
      <p:sp>
        <p:nvSpPr>
          <p:cNvPr id="6" name="Text 4"/>
          <p:cNvSpPr/>
          <p:nvPr/>
        </p:nvSpPr>
        <p:spPr>
          <a:xfrm>
            <a:off x="1627632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22860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1463040" y="361188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26,98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43484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ist ein silbrig-weißes, sehr leichtes Metall (ein „Leichtmetall“). In der Natur kommt es nie rein vor, sondern immer chemisch gebunden – meist im Erz Bauxit.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37760" y="1554480"/>
            <a:ext cx="6702552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554480"/>
            <a:ext cx="32004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Chemisches Symbol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21040" y="1554480"/>
            <a:ext cx="318211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2043684"/>
            <a:ext cx="6702552" cy="489204"/>
          </a:xfrm>
          <a:prstGeom prst="rect">
            <a:avLst/>
          </a:prstGeom>
          <a:solidFill>
            <a:srgbClr val="F2F5F7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043684"/>
            <a:ext cx="32004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Ordnungszahl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043684"/>
            <a:ext cx="318211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2532888"/>
            <a:ext cx="6702552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2532888"/>
            <a:ext cx="32004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Element-Gruppe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532888"/>
            <a:ext cx="318211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 (3. Hauptgruppe)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3022092"/>
            <a:ext cx="6702552" cy="489204"/>
          </a:xfrm>
          <a:prstGeom prst="rect">
            <a:avLst/>
          </a:prstGeom>
          <a:solidFill>
            <a:srgbClr val="F2F5F7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022092"/>
            <a:ext cx="32004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Atommasse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3022092"/>
            <a:ext cx="318211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26,98 u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3511296"/>
            <a:ext cx="6702552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511296"/>
            <a:ext cx="32004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21040" y="3511296"/>
            <a:ext cx="318211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2,70 g/cm³ (Leichtmetall)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4000500"/>
            <a:ext cx="6702552" cy="489204"/>
          </a:xfrm>
          <a:prstGeom prst="rect">
            <a:avLst/>
          </a:prstGeom>
          <a:solidFill>
            <a:srgbClr val="F2F5F7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4000500"/>
            <a:ext cx="32004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Schmelzpunkt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4000500"/>
            <a:ext cx="318211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660 °C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37760" y="4489704"/>
            <a:ext cx="6702552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4489704"/>
            <a:ext cx="32004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Siedepunkt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21040" y="4489704"/>
            <a:ext cx="318211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2 470 °C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37760" y="4978908"/>
            <a:ext cx="6702552" cy="489204"/>
          </a:xfrm>
          <a:prstGeom prst="rect">
            <a:avLst/>
          </a:prstGeom>
          <a:solidFill>
            <a:srgbClr val="F2F5F7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4978908"/>
            <a:ext cx="32004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Farbe / Aussehen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4978908"/>
            <a:ext cx="318211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silbrig-weiß, glänzend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937760" y="5468112"/>
            <a:ext cx="6702552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5468112"/>
            <a:ext cx="32004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Aggregatzustand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21040" y="5468112"/>
            <a:ext cx="3182112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 (bei Raumtemperatur)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</a:t>
            </a:r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Referat Chemie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USGS; Römpp Chemie-Lexikon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430000" y="64008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Eigenschaften von Aluminium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30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rgbClr val="2E7DA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04825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84248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leicht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41248" y="2788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Dichte 2,70 g/cm³ – nur etwa ein Drittel so schwer wie Eisen oder Stahl.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630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874520"/>
            <a:ext cx="777240" cy="777240"/>
          </a:xfrm>
          <a:prstGeom prst="ellipse">
            <a:avLst/>
          </a:prstGeom>
          <a:solidFill>
            <a:srgbClr val="2E7DA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048256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984248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leitfähig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36008" y="2788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Leitet Strom und Wärme sehr gut – wird z. B. für Stromleitungen genutzt.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630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874520"/>
            <a:ext cx="777240" cy="777240"/>
          </a:xfrm>
          <a:prstGeom prst="ellipse">
            <a:avLst/>
          </a:prstGeom>
          <a:solidFill>
            <a:srgbClr val="2E7DA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2048256"/>
            <a:ext cx="429768" cy="429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26880" y="1984248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Korrosionsbeständig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30768" y="2788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dünne Oxidschicht (Passivierung) schützt das Metall vor Rost.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630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206240"/>
            <a:ext cx="777240" cy="777240"/>
          </a:xfrm>
          <a:prstGeom prst="ellipse">
            <a:avLst/>
          </a:prstGeom>
          <a:solidFill>
            <a:srgbClr val="2E7DA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379976"/>
            <a:ext cx="429768" cy="4297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315968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verformbar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41248" y="5120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Weich und dehnbar: lässt sich walzen, pressen, gießen und zu Folie verarbeiten.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43400" y="3931920"/>
            <a:ext cx="3630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206240"/>
            <a:ext cx="777240" cy="777240"/>
          </a:xfrm>
          <a:prstGeom prst="ellipse">
            <a:avLst/>
          </a:prstGeom>
          <a:solidFill>
            <a:srgbClr val="2E7DA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379976"/>
            <a:ext cx="429768" cy="4297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32120" y="4315968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magnetisch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4636008" y="5120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ist unmagnetisch und ungiftig – ideal für Lebensmittel &amp; Elektronik.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630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4206240"/>
            <a:ext cx="777240" cy="777240"/>
          </a:xfrm>
          <a:prstGeom prst="ellipse">
            <a:avLst/>
          </a:prstGeom>
          <a:solidFill>
            <a:srgbClr val="2E7DA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6216" y="4379976"/>
            <a:ext cx="429768" cy="4297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26880" y="4315968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gut recycelbar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8430768" y="5120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Beliebig oft einschmelzbar, ohne dass die Qualität verloren geht.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</a:t>
            </a:r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Referat Chemie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Holleman-Wiberg, Anorganische Chemie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11430000" y="64008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Vorkommen in der Natur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83794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45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Häufigstes Metall der Erdkruste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88720" y="210312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rund 8 % ist Aluminium das häufigste Metall – und nach Sauerstoff und Silicium das dritthäufigste Element überhaupt.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218688"/>
            <a:ext cx="457200" cy="457200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31927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1272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in reiner Form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188720" y="3584448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Wegen seiner hohen Reaktionsfreudigkeit kommt Aluminium in der Natur nie elementar vor, sondern stets als Verbindung.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4700016"/>
            <a:ext cx="457200" cy="457200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80060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460857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Wichtigstes Erz: Bauxit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188720" y="5065776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dem rötlichen Gestein Bauxit wird fast das gesamte Aluminium gewonnen. Große Vorkommen: Australien, Guinea, Brasilien.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7178040" y="1600200"/>
            <a:ext cx="4462272" cy="448056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36092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Zusammensetzung der Erdkruste</a:t>
            </a:r>
            <a:endParaRPr lang="en-US" sz="14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7269480" y="2148840"/>
          <a:ext cx="42976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Text 13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</a:t>
            </a:r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Referat Chemie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USGS; CRC Handbook of Chemistry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11430000" y="64008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Blick in die Geschichte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galt im 19. Jahrhundert als kostbarer als Gold – erst die Elektrolyse machte es zum Massenmetall.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68680" y="2788920"/>
            <a:ext cx="10424160" cy="0"/>
          </a:xfrm>
          <a:prstGeom prst="line">
            <a:avLst/>
          </a:prstGeom>
          <a:noFill/>
          <a:ln w="25400">
            <a:solidFill>
              <a:srgbClr val="C9D2D9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741932" y="2624328"/>
            <a:ext cx="329184" cy="329184"/>
          </a:xfrm>
          <a:prstGeom prst="ellipse">
            <a:avLst/>
          </a:prstGeom>
          <a:solidFill>
            <a:srgbClr val="2E7DA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00400"/>
            <a:ext cx="271576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383280"/>
            <a:ext cx="2715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Erstmals isoliert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68096" y="4681728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Däne H. C. Ørsted stellt erstmals unreines Aluminium her.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22292" y="2624328"/>
            <a:ext cx="329184" cy="329184"/>
          </a:xfrm>
          <a:prstGeom prst="ellipse">
            <a:avLst/>
          </a:prstGeom>
          <a:solidFill>
            <a:srgbClr val="5FB0D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3200400"/>
            <a:ext cx="271576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3383280"/>
            <a:ext cx="2715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FB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1827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611880" y="411480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Reineres Metall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648456" y="4681728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Friedrich Wöhler gewinnt reineres Aluminium und erforscht seine Eigenschaften.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02652" y="2624328"/>
            <a:ext cx="329184" cy="329184"/>
          </a:xfrm>
          <a:prstGeom prst="ellipse">
            <a:avLst/>
          </a:prstGeom>
          <a:solidFill>
            <a:srgbClr val="E8923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200400"/>
            <a:ext cx="271576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3383280"/>
            <a:ext cx="2715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9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492240" y="411480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Hall-Héroult-Verfahren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28816" y="4681728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&amp; Héroult entwickeln unabhängig die Schmelzfluss­elektrolyse – Aluminium wird bezahlbar.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383012" y="2624328"/>
            <a:ext cx="329184" cy="329184"/>
          </a:xfrm>
          <a:prstGeom prst="ellipse">
            <a:avLst/>
          </a:prstGeom>
          <a:solidFill>
            <a:srgbClr val="37474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3200400"/>
            <a:ext cx="271576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89720" y="3383280"/>
            <a:ext cx="2715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74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1888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372600" y="411480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Bayer-Verfahren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409176" y="4681728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 J. Bayer entwickelt das Verfahren zur Gewinnung von reiner Tonerde aus Bauxit.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</a:t>
            </a:r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Referat Chemie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Gesamtverband der Aluminiumindustrie (GDA)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430000" y="64008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Herstellung in zwei Schritten</a:t>
            </a:r>
            <a:endParaRPr lang="en-US" sz="3000" dirty="0"/>
          </a:p>
        </p:txBody>
      </p:sp>
      <p:pic>
        <p:nvPicPr>
          <p:cNvPr id="4" name="Image 0" descr="/home/user/Agents/aluminium_pptx/images/process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371600"/>
            <a:ext cx="10424160" cy="36393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138928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5340096"/>
            <a:ext cx="685800" cy="685800"/>
          </a:xfrm>
          <a:prstGeom prst="ellipse">
            <a:avLst/>
          </a:prstGeom>
          <a:solidFill>
            <a:srgbClr val="2E7DA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5495544"/>
            <a:ext cx="374904" cy="3749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0" y="532180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Bayer-Verfahren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645920" y="563270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dem Erz Bauxit wird durch Auflösen in Natronlauge reines Aluminiumoxid (Al₂O₃, „Tonerde“) gewonnen. Abfallprodukt ist der giftige Rotschlamm.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153912" y="5138928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82512" y="5340096"/>
            <a:ext cx="685800" cy="685800"/>
          </a:xfrm>
          <a:prstGeom prst="ellipse">
            <a:avLst/>
          </a:prstGeom>
          <a:solidFill>
            <a:srgbClr val="2E7DA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5495544"/>
            <a:ext cx="374904" cy="3749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51192" y="532180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Schmelzflusselektrolyse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7251192" y="563270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Aluminiumoxid wird bei ~960 °C geschmolzen und durch elektrischen Strom in reines Aluminium und Sauerstoff zerlegt (Hall-Héroult-Verfahren).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</a:t>
            </a:r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Referat Chemie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GDA; Speira – Aluminium-Herstellung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11430000" y="64008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Weltproduktion 2024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0408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Primäraluminium – größte Produzenten (Mio. t)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194560"/>
          <a:ext cx="68580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600200"/>
            <a:ext cx="3867912" cy="2148840"/>
          </a:xfrm>
          <a:prstGeom prst="roundRect">
            <a:avLst>
              <a:gd name="adj" fmla="val 3404"/>
            </a:avLst>
          </a:prstGeom>
          <a:solidFill>
            <a:srgbClr val="22303A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55280" y="1920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E89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72 Mio. t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7955280" y="26974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Weltproduktion an Primär­aluminium im Jahr 2024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0" y="3931920"/>
            <a:ext cx="3867912" cy="2148840"/>
          </a:xfrm>
          <a:prstGeom prst="roundRect">
            <a:avLst>
              <a:gd name="adj" fmla="val 3404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955280" y="42062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7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60 %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7955280" y="50292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weltweiten Produktion stammen allein aus China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</a:t>
            </a:r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Referat Chemie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USGS, Mineral Commodity Summaries 2025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430000" y="64008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Verwendung im Alltag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32120" cy="1335024"/>
          </a:xfrm>
          <a:prstGeom prst="roundRect">
            <a:avLst>
              <a:gd name="adj" fmla="val 5479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65960"/>
            <a:ext cx="713232" cy="713232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3055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01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Verkehr &amp; Fahrzeuge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3591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Autos, Züge, Fahrräder – leichter = weniger Sprit &amp; CO₂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645920"/>
            <a:ext cx="5532120" cy="1335024"/>
          </a:xfrm>
          <a:prstGeom prst="roundRect">
            <a:avLst>
              <a:gd name="adj" fmla="val 5479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55664" y="1965960"/>
            <a:ext cx="713232" cy="713232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13055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42632" y="1901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Luft- &amp; Raumfahrt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342632" y="23591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Flugzeugrümpfe und Tragflächen aus Alu-Legierungen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118104"/>
            <a:ext cx="5532120" cy="1335024"/>
          </a:xfrm>
          <a:prstGeom prst="roundRect">
            <a:avLst>
              <a:gd name="adj" fmla="val 5479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438144"/>
            <a:ext cx="713232" cy="713232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60273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3741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Verpackungen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91640" y="383133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Getränkedosen, Folien, Tuben, Lebensmittel­verpackung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99632" y="3118104"/>
            <a:ext cx="5532120" cy="1335024"/>
          </a:xfrm>
          <a:prstGeom prst="roundRect">
            <a:avLst>
              <a:gd name="adj" fmla="val 5479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55664" y="3438144"/>
            <a:ext cx="713232" cy="713232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360273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42632" y="33741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Bauwesen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342632" y="383133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Fensterrahmen, Fassaden, Dächer – stabil &amp; wetterfest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4590288"/>
            <a:ext cx="5532120" cy="1335024"/>
          </a:xfrm>
          <a:prstGeom prst="roundRect">
            <a:avLst>
              <a:gd name="adj" fmla="val 5479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910328"/>
            <a:ext cx="713232" cy="713232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07492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4846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Elektrotechnik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1691640" y="5303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Überland-Stromleitungen wegen geringem Gewicht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199632" y="4590288"/>
            <a:ext cx="5532120" cy="1335024"/>
          </a:xfrm>
          <a:prstGeom prst="roundRect">
            <a:avLst>
              <a:gd name="adj" fmla="val 5479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55664" y="4910328"/>
            <a:ext cx="713232" cy="713232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5074920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42632" y="4846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 &amp; Technik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7342632" y="5303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Smartphones, Laptops, Haushaltsgeräte, Möbel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</a:t>
            </a:r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Referat Chemie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GDA – Aluminium in Anwendungen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11430000" y="64008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Recycling – das Sparmetall</a:t>
            </a:r>
            <a:endParaRPr lang="en-US" sz="3000" dirty="0"/>
          </a:p>
        </p:txBody>
      </p:sp>
      <p:pic>
        <p:nvPicPr>
          <p:cNvPr id="4" name="Image 0" descr="/home/user/Agents/aluminium_pptx/images/recycling_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507492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600200"/>
            <a:ext cx="5788152" cy="2011680"/>
          </a:xfrm>
          <a:prstGeom prst="roundRect">
            <a:avLst>
              <a:gd name="adj" fmla="val 3636"/>
            </a:avLst>
          </a:prstGeom>
          <a:solidFill>
            <a:srgbClr val="22303A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20240"/>
            <a:ext cx="868680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78040" y="1828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 5 % Energie nötig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7178040" y="237744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von Aluminium braucht nur etwa 5 % der Energie der Neugewinnung – das spart bis zu 95 %.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852160" y="3877056"/>
            <a:ext cx="384048" cy="384048"/>
          </a:xfrm>
          <a:prstGeom prst="ellipse">
            <a:avLst/>
          </a:prstGeom>
          <a:solidFill>
            <a:srgbClr val="2E7DA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395935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00800" y="37947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kann beliebig oft eingeschmolzen werden, ohne an Qualität zu verlieren.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852160" y="4636008"/>
            <a:ext cx="384048" cy="384048"/>
          </a:xfrm>
          <a:prstGeom prst="ellipse">
            <a:avLst/>
          </a:prstGeom>
          <a:solidFill>
            <a:srgbClr val="2E7DA1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4718304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00800" y="455371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 75 % des jemals produzierten Aluminiums sind heute noch in Gebrauch.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852160" y="5394960"/>
            <a:ext cx="384048" cy="384048"/>
          </a:xfrm>
          <a:prstGeom prst="ellipse">
            <a:avLst/>
          </a:prstGeom>
          <a:solidFill>
            <a:srgbClr val="2E7DA1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456" y="5477256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400800" y="531266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Getrennte Sammlung (z. B. Gelber Sack, Pfand) ist die Grundlage für gutes Recycling.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</a:t>
            </a:r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Referat Chemie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5669280" y="64556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Aluminium Deutschland; Umweltbundesamt</a:t>
            </a:r>
            <a:endParaRPr lang="en-US" sz="800" dirty="0"/>
          </a:p>
        </p:txBody>
      </p:sp>
      <p:sp>
        <p:nvSpPr>
          <p:cNvPr id="20" name="Text 13"/>
          <p:cNvSpPr/>
          <p:nvPr/>
        </p:nvSpPr>
        <p:spPr>
          <a:xfrm>
            <a:off x="11430000" y="64008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Vorteile &amp; Nachteile im Überblick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2E7DA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756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3852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Vorteile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5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leicht und trotzdem stabil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5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Rostet nicht (schützende Oxidschicht)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5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form- und verarbeitbar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5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Leitet Strom und Wärme sehr gut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5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Beliebig oft recycelbar – spart Energie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5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Ungiftig &amp; lebensmittelecht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172200" y="164592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920240"/>
            <a:ext cx="640080" cy="640080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0756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3852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9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Nachteile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537960" y="278892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✕"/>
            </a:pPr>
            <a:r>
              <a:rPr lang="en-US" sz="15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Herstellung braucht sehr viel Energie (Strom)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✕"/>
            </a:pPr>
            <a:r>
              <a:rPr lang="en-US" sz="15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Hoher CO₂-Ausstoß bei der Neugewinnung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✕"/>
            </a:pPr>
            <a:r>
              <a:rPr lang="en-US" sz="15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Giftiger Rotschlamm als Abfallprodukt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✕"/>
            </a:pPr>
            <a:r>
              <a:rPr lang="en-US" sz="15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Abbau von Bauxit zerstört Landschaften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✕"/>
            </a:pPr>
            <a:r>
              <a:rPr lang="en-US" sz="15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Teurer als z. B. Stahl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✕"/>
            </a:pPr>
            <a:r>
              <a:rPr lang="en-US" sz="1550" dirty="0">
                <a:solidFill>
                  <a:srgbClr val="2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Weicher als Stahl – oft als Legierung nötig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</a:t>
            </a:r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Referat Chemie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4008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023360"/>
            <a:ext cx="4206240" cy="4206240"/>
          </a:xfrm>
          <a:prstGeom prst="ellipse">
            <a:avLst/>
          </a:prstGeom>
          <a:solidFill>
            <a:srgbClr val="2C3E49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2C3E4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Aluminium – leicht, vielseitig, zukunftsfähig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2C3E49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834640"/>
            <a:ext cx="777240" cy="777240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3008376"/>
            <a:ext cx="429768" cy="4297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262432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Besonderes Metall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011680" y="313639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ist das häufigste Metall der Erdkruste und vereint geringes Gewicht mit hoher Stabilität.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09360" y="23317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2C3E49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0" y="2834640"/>
            <a:ext cx="777240" cy="777240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3008376"/>
            <a:ext cx="429768" cy="4297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43800" y="262432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Aufwändige Herstellung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543800" y="313639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Gewinnung aus Bauxit ist sehr energieintensiv – Strom und Umwelt spielen eine große Rolle.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77240" y="42976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2C3E49"/>
          </a:solidFill>
          <a:ln/>
        </p:spPr>
      </p:sp>
      <p:sp>
        <p:nvSpPr>
          <p:cNvPr id="17" name="Shape 13"/>
          <p:cNvSpPr/>
          <p:nvPr/>
        </p:nvSpPr>
        <p:spPr>
          <a:xfrm>
            <a:off x="1051560" y="4800600"/>
            <a:ext cx="777240" cy="777240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4974336"/>
            <a:ext cx="429768" cy="4297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11680" y="45902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ist der Schlüssel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2011680" y="510235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Wiederverwertung spart bis zu 95 % Energie und macht Aluminium nachhaltig nutzbar.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309360" y="42976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2C3E49"/>
          </a:solidFill>
          <a:ln/>
        </p:spPr>
      </p:sp>
      <p:sp>
        <p:nvSpPr>
          <p:cNvPr id="22" name="Shape 17"/>
          <p:cNvSpPr/>
          <p:nvPr/>
        </p:nvSpPr>
        <p:spPr>
          <a:xfrm>
            <a:off x="6583680" y="4800600"/>
            <a:ext cx="777240" cy="777240"/>
          </a:xfrm>
          <a:prstGeom prst="ellipse">
            <a:avLst/>
          </a:prstGeom>
          <a:solidFill>
            <a:srgbClr val="E8923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4974336"/>
            <a:ext cx="429768" cy="4297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43800" y="45902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Unverzichtbar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7543800" y="510235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Flugzeug bis zur Getränkedose – Aluminium prägt unseren modernen Alltag.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ANHANG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Quellenverzeichnis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50292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36192"/>
            <a:ext cx="1109167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5361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Geological Survey (USGS)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846320" y="153619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 Commodity Summaries 2025 – Aluminum. pubs.usgs.gov (Produktionszahlen 2024)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107692"/>
            <a:ext cx="11091672" cy="548640"/>
          </a:xfrm>
          <a:prstGeom prst="rect">
            <a:avLst/>
          </a:prstGeom>
          <a:solidFill>
            <a:srgbClr val="F2F5F7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1076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Gesamtverband der Aluminiumindustrie (GDA)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0" y="210769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aluminiumdeutschland.de – Eigenschaften, Herstellung, Anwendungen, Energiesparen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679192"/>
            <a:ext cx="1109167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6791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Holleman / Wiberg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267919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Lehrbuch der Anorganischen Chemie, de Gruyter (chemische &amp; physikalische Eigenschaften)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250692"/>
            <a:ext cx="11091672" cy="548640"/>
          </a:xfrm>
          <a:prstGeom prst="rect">
            <a:avLst/>
          </a:prstGeom>
          <a:solidFill>
            <a:srgbClr val="F2F5F7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32506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Römpp Chemie-Lexikon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325069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Thieme Verlag, Stichwort „Aluminium“ (Steckbrief &amp; Element-Daten)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822192"/>
            <a:ext cx="1109167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38221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Speira GmbH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46320" y="382219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speira.com – Aluminium-Herstellung &amp; Recycling (Bayer-Verfahren, Elektrolyse)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393692"/>
            <a:ext cx="11091672" cy="548640"/>
          </a:xfrm>
          <a:prstGeom prst="rect">
            <a:avLst/>
          </a:prstGeom>
          <a:solidFill>
            <a:srgbClr val="F2F5F7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43936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Umweltbundesamt (UBA)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46320" y="439369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umweltbundesamt.de – Aluminiumrecycling &amp; Umweltbilanz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4965192"/>
            <a:ext cx="1109167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9651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Handbook of Chemistry and Physics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846320" y="496519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Häufigkeit der Elemente in der Erdkruste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48640" y="560984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Hinweis: Die abgebildeten Diagramme (Atommodell, Herstellungsprozess, Recycling-Kreislauf) wurden eigens für dieses Referat erstellt. Abgerufen: Juni 2026.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</a:t>
            </a:r>
            <a:pPr algn="l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Referat Chemie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430000" y="64008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Aluminium</dc:title>
  <dc:subject>PptxGenJS Presentation</dc:subject>
  <dc:creator>Schülerpräsentation</dc:creator>
  <cp:lastModifiedBy>Schülerpräsentation</cp:lastModifiedBy>
  <cp:revision>1</cp:revision>
  <dcterms:created xsi:type="dcterms:W3CDTF">2026-06-12T10:18:22Z</dcterms:created>
  <dcterms:modified xsi:type="dcterms:W3CDTF">2026-06-12T10:18:22Z</dcterms:modified>
</cp:coreProperties>
</file>